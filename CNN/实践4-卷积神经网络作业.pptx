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22"/>
  </p:notesMasterIdLst>
  <p:handoutMasterIdLst>
    <p:handoutMasterId r:id="rId23"/>
  </p:handoutMasterIdLst>
  <p:sldIdLst>
    <p:sldId id="439" r:id="rId3"/>
    <p:sldId id="440" r:id="rId4"/>
    <p:sldId id="441" r:id="rId5"/>
    <p:sldId id="445" r:id="rId6"/>
    <p:sldId id="446" r:id="rId7"/>
    <p:sldId id="447" r:id="rId8"/>
    <p:sldId id="448" r:id="rId9"/>
    <p:sldId id="449" r:id="rId10"/>
    <p:sldId id="450" r:id="rId11"/>
    <p:sldId id="451" r:id="rId12"/>
    <p:sldId id="453" r:id="rId13"/>
    <p:sldId id="456" r:id="rId14"/>
    <p:sldId id="457" r:id="rId15"/>
    <p:sldId id="458" r:id="rId16"/>
    <p:sldId id="459" r:id="rId17"/>
    <p:sldId id="460" r:id="rId18"/>
    <p:sldId id="461" r:id="rId19"/>
    <p:sldId id="443" r:id="rId20"/>
    <p:sldId id="45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sh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641B"/>
    <a:srgbClr val="54C3F4"/>
    <a:srgbClr val="FFFFFF"/>
    <a:srgbClr val="ECF5E7"/>
    <a:srgbClr val="FFDDDD"/>
    <a:srgbClr val="984378"/>
    <a:srgbClr val="22304B"/>
    <a:srgbClr val="C77FAC"/>
    <a:srgbClr val="0062AC"/>
    <a:srgbClr val="ED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81818" autoAdjust="0"/>
  </p:normalViewPr>
  <p:slideViewPr>
    <p:cSldViewPr snapToGrid="0">
      <p:cViewPr>
        <p:scale>
          <a:sx n="44" d="100"/>
          <a:sy n="44" d="100"/>
        </p:scale>
        <p:origin x="2097" y="1002"/>
      </p:cViewPr>
      <p:guideLst/>
    </p:cSldViewPr>
  </p:slideViewPr>
  <p:outlineViewPr>
    <p:cViewPr>
      <p:scale>
        <a:sx n="33" d="100"/>
        <a:sy n="33" d="100"/>
      </p:scale>
      <p:origin x="0" y="-1191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EE64E-9A2D-4D02-BD46-DFCFC74B5EE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3604F-F5C7-412C-AE28-FF961BD94C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100" b="0" i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966F891-39E4-4949-84B5-293BD1F65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07" y="1524000"/>
            <a:ext cx="6117446" cy="468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6395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966F891-39E4-4949-84B5-293BD1F65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07" y="1524000"/>
            <a:ext cx="6117446" cy="468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2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447" y="1"/>
            <a:ext cx="11797552" cy="669129"/>
          </a:xfrm>
          <a:noFill/>
        </p:spPr>
        <p:txBody>
          <a:bodyPr>
            <a:noAutofit/>
          </a:bodyPr>
          <a:lstStyle>
            <a:lvl1pPr>
              <a:defRPr sz="4000" b="1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447" y="789710"/>
            <a:ext cx="11355295" cy="5820093"/>
          </a:xfrm>
        </p:spPr>
        <p:txBody>
          <a:bodyPr/>
          <a:lstStyle>
            <a:lvl1pPr>
              <a:lnSpc>
                <a:spcPct val="120000"/>
              </a:lnSpc>
              <a:defRPr sz="3200" b="1" i="0" baseline="0"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000" b="0" i="0" baseline="0">
                <a:ea typeface="华文楷体" panose="02010600040101010101" pitchFamily="2" charset="-122"/>
              </a:defRPr>
            </a:lvl2pPr>
            <a:lvl3pPr>
              <a:lnSpc>
                <a:spcPct val="120000"/>
              </a:lnSpc>
              <a:defRPr sz="2800" b="0" i="0" baseline="0">
                <a:ea typeface="华文新魏" panose="02010800040101010101" pitchFamily="2" charset="-122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traight Connector 27">
            <a:extLst>
              <a:ext uri="{FF2B5EF4-FFF2-40B4-BE49-F238E27FC236}">
                <a16:creationId xmlns:a16="http://schemas.microsoft.com/office/drawing/2014/main" id="{D59285DE-C1F6-4B21-8CFE-2BDB4A08D1B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6477000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sz="1400"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5050A8B-65E7-4672-9976-F9678ACC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69B4C9B-667A-475B-923C-B441E63112E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609600" y="990600"/>
            <a:ext cx="10972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>
                <a:latin typeface="+mn-lt"/>
              </a:defRPr>
            </a:lvl1pPr>
            <a:lvl2pPr>
              <a:defRPr baseline="0">
                <a:latin typeface="+mn-lt"/>
              </a:defRPr>
            </a:lvl2pPr>
            <a:lvl3pPr>
              <a:defRPr baseline="0">
                <a:latin typeface="+mn-lt"/>
              </a:defRPr>
            </a:lvl3pPr>
            <a:lvl4pPr>
              <a:defRPr baseline="0">
                <a:latin typeface="+mn-lt"/>
              </a:defRPr>
            </a:lvl4pPr>
            <a:lvl5pPr>
              <a:defRPr baseline="0">
                <a:latin typeface="+mn-lt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283892232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308" y="100942"/>
            <a:ext cx="11178636" cy="89064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7" y="991590"/>
            <a:ext cx="11355295" cy="5708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2386977" y="6514880"/>
            <a:ext cx="7370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深度学习及应用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99140" y="6555260"/>
            <a:ext cx="1292860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fld id="{C603BFBC-EF15-48A5-8249-0FEAC4BE5DBB}" type="slidenum">
              <a:rPr lang="en-US" sz="1400" smtClean="0">
                <a:solidFill>
                  <a:schemeClr val="tx1"/>
                </a:solidFill>
              </a:rPr>
              <a:t>‹#›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Straight Connector 27">
            <a:extLst>
              <a:ext uri="{FF2B5EF4-FFF2-40B4-BE49-F238E27FC236}">
                <a16:creationId xmlns:a16="http://schemas.microsoft.com/office/drawing/2014/main" id="{D59285DE-C1F6-4B21-8CFE-2BDB4A08D1B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6477000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sz="1400">
              <a:latin typeface="+mn-ea"/>
              <a:ea typeface="+mn-ea"/>
            </a:endParaRPr>
          </a:p>
        </p:txBody>
      </p:sp>
      <p:sp>
        <p:nvSpPr>
          <p:cNvPr id="15" name="Straight Connector 28"/>
          <p:cNvSpPr>
            <a:spLocks noChangeShapeType="1"/>
          </p:cNvSpPr>
          <p:nvPr userDrawn="1"/>
        </p:nvSpPr>
        <p:spPr bwMode="auto">
          <a:xfrm>
            <a:off x="609600" y="898949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2" r:id="rId3"/>
    <p:sldLayoutId id="2147483650" r:id="rId4"/>
    <p:sldLayoutId id="214748365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245075" y="822158"/>
            <a:ext cx="6367849" cy="861612"/>
          </a:xfrm>
          <a:noFill/>
        </p:spPr>
        <p:txBody>
          <a:bodyPr>
            <a:normAutofit/>
          </a:bodyPr>
          <a:lstStyle/>
          <a:p>
            <a:pPr algn="ctr"/>
            <a:r>
              <a:rPr lang="zh-CN" altLang="en-US" sz="3600" dirty="0"/>
              <a:t>深度学习及应用</a:t>
            </a:r>
            <a:endParaRPr lang="zh-CN" altLang="en-US" sz="3600" b="1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1794510" y="3826609"/>
            <a:ext cx="8602980" cy="24231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350"/>
              </a:spcBef>
            </a:pPr>
            <a:endParaRPr lang="en-US" altLang="zh-CN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>
              <a:spcBef>
                <a:spcPts val="1350"/>
              </a:spcBef>
            </a:pPr>
            <a:endParaRPr lang="en-US" altLang="zh-CN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>
              <a:spcBef>
                <a:spcPts val="1350"/>
              </a:spcBef>
            </a:pPr>
            <a:endParaRPr lang="en-US" altLang="zh-CN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81007" y="5038167"/>
            <a:ext cx="7832758" cy="13033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1350"/>
              </a:spcBef>
            </a:pPr>
            <a:endParaRPr lang="en-US" altLang="zh-CN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1350"/>
              </a:spcBef>
            </a:pPr>
            <a:r>
              <a:rPr lang="zh-CN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侯淇彬</a:t>
            </a:r>
            <a:endParaRPr lang="en-US" altLang="zh-C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350"/>
              </a:spcBef>
            </a:pPr>
            <a:r>
              <a:rPr lang="zh-CN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南开大学计算机学院</a:t>
            </a:r>
            <a:endParaRPr lang="en-US" altLang="zh-C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350"/>
              </a:spcBef>
            </a:pPr>
            <a:endParaRPr lang="zh-CN" altLang="en-US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1350"/>
              </a:spcBef>
              <a:buFont typeface="Arial" panose="020B0604020202020204" pitchFamily="34" charset="0"/>
              <a:buNone/>
            </a:pPr>
            <a:endParaRPr lang="zh-CN" alt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0616" y="988541"/>
            <a:ext cx="461665" cy="923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5213461" y="2978980"/>
            <a:ext cx="6367849" cy="86161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3600" dirty="0"/>
              <a:t>实践</a:t>
            </a:r>
            <a:r>
              <a:rPr lang="en-US" altLang="zh-CN" sz="3600" dirty="0"/>
              <a:t>—</a:t>
            </a:r>
            <a:r>
              <a:rPr lang="zh-CN" altLang="en-US" sz="3600" dirty="0"/>
              <a:t>卷积神经网络</a:t>
            </a:r>
            <a:endParaRPr lang="zh-CN" altLang="en-US" sz="3600" b="1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9841"/>
    </mc:Choice>
    <mc:Fallback xmlns="">
      <p:transition spd="slow" advTm="984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2552-A24B-45F7-9560-E47B4AFF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85846-4CCF-48E6-9B73-4407042CB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掌握</a:t>
            </a:r>
            <a:r>
              <a:rPr lang="en-US" altLang="zh-CN" dirty="0" err="1"/>
              <a:t>PyTorch</a:t>
            </a:r>
            <a:r>
              <a:rPr lang="zh-CN" altLang="zh-CN" dirty="0"/>
              <a:t>框架基础算子</a:t>
            </a:r>
            <a:endParaRPr lang="en-US" altLang="zh-CN" dirty="0"/>
          </a:p>
          <a:p>
            <a:pPr lvl="1"/>
            <a:r>
              <a:rPr lang="en-US" altLang="zh-CN" dirty="0"/>
              <a:t>Convolution, Pooling, Activation layers</a:t>
            </a:r>
            <a:endParaRPr lang="zh-CN" altLang="zh-CN" dirty="0"/>
          </a:p>
          <a:p>
            <a:pPr lvl="0"/>
            <a:r>
              <a:rPr lang="zh-CN" altLang="zh-CN" dirty="0"/>
              <a:t>学会使用</a:t>
            </a:r>
            <a:r>
              <a:rPr lang="en-US" altLang="zh-CN" dirty="0" err="1"/>
              <a:t>PyTorch</a:t>
            </a:r>
            <a:r>
              <a:rPr lang="zh-CN" altLang="zh-CN" dirty="0"/>
              <a:t>搭建简单的</a:t>
            </a:r>
            <a:r>
              <a:rPr lang="zh-CN" altLang="en-US" dirty="0"/>
              <a:t>卷积</a:t>
            </a:r>
            <a:r>
              <a:rPr lang="zh-CN" altLang="zh-CN" dirty="0"/>
              <a:t>神经网络来训练</a:t>
            </a:r>
            <a:r>
              <a:rPr lang="en-US" altLang="zh-CN" dirty="0"/>
              <a:t>Cifar10</a:t>
            </a:r>
            <a:r>
              <a:rPr lang="zh-CN" altLang="zh-CN" dirty="0"/>
              <a:t>数据集</a:t>
            </a:r>
          </a:p>
          <a:p>
            <a:pPr lvl="0"/>
            <a:r>
              <a:rPr lang="zh-CN" altLang="zh-CN" dirty="0"/>
              <a:t>了解</a:t>
            </a:r>
            <a:r>
              <a:rPr lang="zh-CN" altLang="en-US" dirty="0"/>
              <a:t>经典的卷积神经网络结构</a:t>
            </a:r>
            <a:endParaRPr lang="zh-CN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0272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2552-A24B-45F7-9560-E47B4AFF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VGGNet</a:t>
            </a:r>
            <a:endParaRPr lang="en-US" altLang="zh-CN" dirty="0"/>
          </a:p>
        </p:txBody>
      </p:sp>
      <p:pic>
        <p:nvPicPr>
          <p:cNvPr id="1034" name="Picture 10" descr="VGG16 - Convolutional Network for Classification and Detection">
            <a:extLst>
              <a:ext uri="{FF2B5EF4-FFF2-40B4-BE49-F238E27FC236}">
                <a16:creationId xmlns:a16="http://schemas.microsoft.com/office/drawing/2014/main" id="{0CB2A4C1-BE88-4D71-B776-C114A02C5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218452"/>
            <a:ext cx="8572500" cy="482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337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2552-A24B-45F7-9560-E47B4AFF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VGGNet</a:t>
            </a:r>
            <a:endParaRPr lang="en-US" altLang="zh-CN" dirty="0"/>
          </a:p>
        </p:txBody>
      </p:sp>
      <p:pic>
        <p:nvPicPr>
          <p:cNvPr id="1032" name="Picture 8" descr="Review: VGGNet — 1st Runner-Up (Image Classification), Winner  (Localization) in ILSVRC 2014 | by Sik-Ho Tsang | Coinmonks | Medium">
            <a:extLst>
              <a:ext uri="{FF2B5EF4-FFF2-40B4-BE49-F238E27FC236}">
                <a16:creationId xmlns:a16="http://schemas.microsoft.com/office/drawing/2014/main" id="{0665915F-FF16-4C91-94E7-5120CC07E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121" y="1104946"/>
            <a:ext cx="7101758" cy="504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072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2552-A24B-45F7-9560-E47B4AFF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ResNet</a:t>
            </a:r>
            <a:endParaRPr lang="en-US" altLang="zh-CN" dirty="0"/>
          </a:p>
        </p:txBody>
      </p:sp>
      <p:pic>
        <p:nvPicPr>
          <p:cNvPr id="3078" name="Picture 6" descr="How to code your ResNet from scratch in Tensorflow? - Analytics Vidhya">
            <a:extLst>
              <a:ext uri="{FF2B5EF4-FFF2-40B4-BE49-F238E27FC236}">
                <a16:creationId xmlns:a16="http://schemas.microsoft.com/office/drawing/2014/main" id="{387E3ADB-5A75-4BE9-BA39-6DB850A2B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926" y="1352706"/>
            <a:ext cx="7982147" cy="4726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79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2552-A24B-45F7-9560-E47B4AFF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ResNet</a:t>
            </a:r>
            <a:endParaRPr lang="en-US" altLang="zh-CN" dirty="0"/>
          </a:p>
        </p:txBody>
      </p:sp>
      <p:pic>
        <p:nvPicPr>
          <p:cNvPr id="4098" name="Picture 2" descr="Bottleneck Blocks for ResNet-50 (left: identity shortcut; right:... |  Download Scientific Diagram">
            <a:extLst>
              <a:ext uri="{FF2B5EF4-FFF2-40B4-BE49-F238E27FC236}">
                <a16:creationId xmlns:a16="http://schemas.microsoft.com/office/drawing/2014/main" id="{4EFD6FA6-55F6-4D5D-A607-9E8CE21E6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495425"/>
            <a:ext cx="809625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82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2552-A24B-45F7-9560-E47B4AFF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ResNet</a:t>
            </a:r>
            <a:endParaRPr lang="en-US" altLang="zh-CN" dirty="0"/>
          </a:p>
        </p:txBody>
      </p:sp>
      <p:pic>
        <p:nvPicPr>
          <p:cNvPr id="5122" name="Picture 2" descr="Deep Residual Learning for Image Recognition (ResNet) | by Vighnesh Uday  Tamse | Analytics Vidhya | Medium">
            <a:extLst>
              <a:ext uri="{FF2B5EF4-FFF2-40B4-BE49-F238E27FC236}">
                <a16:creationId xmlns:a16="http://schemas.microsoft.com/office/drawing/2014/main" id="{57F4250B-22B0-411E-9464-FBCED5C55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85" y="1219695"/>
            <a:ext cx="10874559" cy="473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82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2552-A24B-45F7-9560-E47B4AFF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ResNet</a:t>
            </a:r>
            <a:endParaRPr lang="en-US" altLang="zh-CN" dirty="0"/>
          </a:p>
        </p:txBody>
      </p:sp>
      <p:pic>
        <p:nvPicPr>
          <p:cNvPr id="5124" name="Picture 4" descr="ResNet - Gojay's Records">
            <a:extLst>
              <a:ext uri="{FF2B5EF4-FFF2-40B4-BE49-F238E27FC236}">
                <a16:creationId xmlns:a16="http://schemas.microsoft.com/office/drawing/2014/main" id="{BC840F56-D407-4007-BBE1-6B5F301D4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94" y="1311845"/>
            <a:ext cx="10516212" cy="450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69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2552-A24B-45F7-9560-E47B4AFF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ResNeXt</a:t>
            </a:r>
            <a:endParaRPr lang="en-US" altLang="zh-CN" dirty="0"/>
          </a:p>
        </p:txBody>
      </p:sp>
      <p:pic>
        <p:nvPicPr>
          <p:cNvPr id="6146" name="Picture 2" descr="Review: ResNeXt — 1st Runner Up in ILSVRC 2016 (Image Classification) | by  Sik-Ho Tsang | Towards Data Science">
            <a:extLst>
              <a:ext uri="{FF2B5EF4-FFF2-40B4-BE49-F238E27FC236}">
                <a16:creationId xmlns:a16="http://schemas.microsoft.com/office/drawing/2014/main" id="{8515D113-6539-450F-984A-7DD8B36C9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165" y="1774562"/>
            <a:ext cx="8805670" cy="386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31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2552-A24B-45F7-9560-E47B4AFF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DenseNet</a:t>
            </a:r>
            <a:endParaRPr lang="en-US" altLang="zh-CN" dirty="0"/>
          </a:p>
        </p:txBody>
      </p:sp>
      <p:pic>
        <p:nvPicPr>
          <p:cNvPr id="8194" name="Picture 2" descr="Densenet | PyTorch">
            <a:extLst>
              <a:ext uri="{FF2B5EF4-FFF2-40B4-BE49-F238E27FC236}">
                <a16:creationId xmlns:a16="http://schemas.microsoft.com/office/drawing/2014/main" id="{ACF97C76-9116-44EF-AD50-E7A74C7F8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876" y="1130248"/>
            <a:ext cx="6786247" cy="516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72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2552-A24B-45F7-9560-E47B4AFF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延伸</a:t>
            </a:r>
            <a:r>
              <a:rPr lang="zh-CN" altLang="en-US" dirty="0" smtClean="0"/>
              <a:t>阅读</a:t>
            </a:r>
            <a:r>
              <a:rPr lang="en-US" altLang="zh-CN" dirty="0" smtClean="0"/>
              <a:t>1</a:t>
            </a:r>
            <a:endParaRPr lang="en-US" altLang="zh-CN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3BF2344-DE17-4F3A-B03E-3DD424C8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410200"/>
          </a:xfrm>
        </p:spPr>
        <p:txBody>
          <a:bodyPr>
            <a:normAutofit/>
          </a:bodyPr>
          <a:lstStyle/>
          <a:p>
            <a:pPr lvl="0"/>
            <a:r>
              <a:rPr lang="en-US" altLang="zh-CN" dirty="0">
                <a:solidFill>
                  <a:srgbClr val="EB641B"/>
                </a:solidFill>
              </a:rPr>
              <a:t>Res2Net</a:t>
            </a:r>
            <a:r>
              <a:rPr lang="en-US" altLang="zh-CN" dirty="0"/>
              <a:t> (Res2Net: A New Multi-scale Backbone Architecture)</a:t>
            </a:r>
          </a:p>
          <a:p>
            <a:pPr lvl="0"/>
            <a:r>
              <a:rPr lang="en-US" altLang="zh-CN" dirty="0" smtClean="0">
                <a:solidFill>
                  <a:srgbClr val="EB641B"/>
                </a:solidFill>
              </a:rPr>
              <a:t>VAN </a:t>
            </a:r>
            <a:r>
              <a:rPr lang="en-US" altLang="zh-CN" dirty="0" smtClean="0"/>
              <a:t>(Visual Attention Networks)</a:t>
            </a:r>
          </a:p>
          <a:p>
            <a:r>
              <a:rPr lang="en-US" altLang="zh-CN" dirty="0" err="1" smtClean="0">
                <a:solidFill>
                  <a:srgbClr val="EB641B"/>
                </a:solidFill>
              </a:rPr>
              <a:t>MobileNets</a:t>
            </a:r>
            <a:r>
              <a:rPr lang="en-US" altLang="zh-CN" dirty="0" smtClean="0">
                <a:solidFill>
                  <a:srgbClr val="EB641B"/>
                </a:solidFill>
              </a:rPr>
              <a:t> 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MobileNets</a:t>
            </a:r>
            <a:r>
              <a:rPr lang="en-US" altLang="zh-CN" dirty="0"/>
              <a:t>: Efficient Convolutional Neural Networks for Mobile Vision Applications)</a:t>
            </a:r>
          </a:p>
          <a:p>
            <a:r>
              <a:rPr lang="en-US" altLang="zh-CN" dirty="0" smtClean="0">
                <a:solidFill>
                  <a:srgbClr val="EB641B"/>
                </a:solidFill>
              </a:rPr>
              <a:t>MobileNetv2</a:t>
            </a:r>
            <a:r>
              <a:rPr lang="en-US" altLang="zh-CN" dirty="0"/>
              <a:t> (MobileNetV2: Inverted Residuals and Linear Bottlenecks</a:t>
            </a:r>
            <a:r>
              <a:rPr lang="en-US" altLang="zh-CN" dirty="0" smtClean="0"/>
              <a:t>)</a:t>
            </a:r>
          </a:p>
          <a:p>
            <a:r>
              <a:rPr lang="en-US" altLang="zh-CN" dirty="0" err="1">
                <a:solidFill>
                  <a:srgbClr val="EB641B"/>
                </a:solidFill>
              </a:rPr>
              <a:t>MobileNeXt</a:t>
            </a:r>
            <a:r>
              <a:rPr lang="en-US" altLang="zh-CN" dirty="0"/>
              <a:t> (Rethinking Bottleneck Structure for Efficient Mobile Network Design)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0467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2552-A24B-45F7-9560-E47B4AFF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扩展练习</a:t>
            </a:r>
            <a:endParaRPr lang="en-US" altLang="zh-CN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3BF2344-DE17-4F3A-B03E-3DD424C8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410200"/>
          </a:xfrm>
        </p:spPr>
        <p:txBody>
          <a:bodyPr>
            <a:normAutofit/>
          </a:bodyPr>
          <a:lstStyle/>
          <a:p>
            <a:pPr lvl="0"/>
            <a:r>
              <a:rPr lang="en-US" altLang="zh-CN" dirty="0">
                <a:solidFill>
                  <a:srgbClr val="EB641B"/>
                </a:solidFill>
              </a:rPr>
              <a:t>Res2Net</a:t>
            </a:r>
            <a:r>
              <a:rPr lang="en-US" altLang="zh-CN" dirty="0"/>
              <a:t> (Res2Net: A New Multi-scale Backbone Architecture)</a:t>
            </a:r>
          </a:p>
          <a:p>
            <a:endParaRPr lang="en-US" altLang="zh-CN" dirty="0"/>
          </a:p>
        </p:txBody>
      </p:sp>
      <p:pic>
        <p:nvPicPr>
          <p:cNvPr id="2050" name="Picture 2" descr="undefi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404" y="2089893"/>
            <a:ext cx="4554540" cy="344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ow to code your ResNet from scratch in Tensorflow? - Analytics Vidhya">
            <a:extLst>
              <a:ext uri="{FF2B5EF4-FFF2-40B4-BE49-F238E27FC236}">
                <a16:creationId xmlns:a16="http://schemas.microsoft.com/office/drawing/2014/main" id="{387E3ADB-5A75-4BE9-BA39-6DB850A2B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41" y="2089893"/>
            <a:ext cx="5808988" cy="344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24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2552-A24B-45F7-9560-E47B4AFF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延伸</a:t>
            </a:r>
            <a:r>
              <a:rPr lang="zh-CN" altLang="en-US" dirty="0" smtClean="0"/>
              <a:t>阅读</a:t>
            </a:r>
            <a:r>
              <a:rPr lang="en-US" altLang="zh-CN" dirty="0" smtClean="0"/>
              <a:t>2</a:t>
            </a:r>
            <a:endParaRPr lang="en-US" altLang="zh-CN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3BF2344-DE17-4F3A-B03E-3DD424C8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410200"/>
          </a:xfrm>
        </p:spPr>
        <p:txBody>
          <a:bodyPr>
            <a:normAutofit/>
          </a:bodyPr>
          <a:lstStyle/>
          <a:p>
            <a:pPr lvl="0"/>
            <a:r>
              <a:rPr lang="en-US" altLang="zh-CN" dirty="0" err="1" smtClean="0">
                <a:solidFill>
                  <a:srgbClr val="EB641B"/>
                </a:solidFill>
              </a:rPr>
              <a:t>SENet</a:t>
            </a:r>
            <a:r>
              <a:rPr lang="en-US" altLang="zh-CN" dirty="0">
                <a:solidFill>
                  <a:srgbClr val="EB641B"/>
                </a:solidFill>
              </a:rPr>
              <a:t> </a:t>
            </a:r>
            <a:r>
              <a:rPr lang="en-US" altLang="zh-CN" dirty="0"/>
              <a:t>(Squeeze-and-excitation networks)</a:t>
            </a:r>
            <a:endParaRPr lang="en-US" altLang="zh-CN" dirty="0" smtClean="0"/>
          </a:p>
          <a:p>
            <a:pPr lvl="0"/>
            <a:r>
              <a:rPr lang="en-US" altLang="zh-CN" dirty="0" smtClean="0">
                <a:solidFill>
                  <a:srgbClr val="EB641B"/>
                </a:solidFill>
              </a:rPr>
              <a:t>Self-Calibrated </a:t>
            </a:r>
            <a:r>
              <a:rPr lang="en-US" altLang="zh-CN" dirty="0">
                <a:solidFill>
                  <a:srgbClr val="EB641B"/>
                </a:solidFill>
              </a:rPr>
              <a:t>Convolution </a:t>
            </a:r>
            <a:r>
              <a:rPr lang="en-US" altLang="zh-CN" dirty="0" smtClean="0"/>
              <a:t>(</a:t>
            </a:r>
            <a:r>
              <a:rPr lang="en-US" altLang="zh-CN" dirty="0"/>
              <a:t>Improving Convolutional Networks with Self-Calibrated Convolutions)</a:t>
            </a:r>
            <a:endParaRPr lang="en-US" altLang="zh-CN" dirty="0"/>
          </a:p>
          <a:p>
            <a:pPr lvl="0"/>
            <a:r>
              <a:rPr lang="en-US" altLang="zh-CN" dirty="0" err="1" smtClean="0">
                <a:solidFill>
                  <a:srgbClr val="EB641B"/>
                </a:solidFill>
              </a:rPr>
              <a:t>SKNet</a:t>
            </a:r>
            <a:r>
              <a:rPr lang="en-US" altLang="zh-CN" dirty="0" smtClean="0">
                <a:solidFill>
                  <a:srgbClr val="EB641B"/>
                </a:solidFill>
              </a:rPr>
              <a:t> </a:t>
            </a:r>
            <a:r>
              <a:rPr lang="en-US" altLang="zh-CN" dirty="0"/>
              <a:t>(Selective kernel networks)</a:t>
            </a:r>
            <a:endParaRPr lang="en-US" altLang="zh-CN" dirty="0" smtClean="0"/>
          </a:p>
          <a:p>
            <a:r>
              <a:rPr lang="en-US" altLang="zh-CN" dirty="0" smtClean="0">
                <a:solidFill>
                  <a:srgbClr val="EB641B"/>
                </a:solidFill>
              </a:rPr>
              <a:t>Dynamic Convolution</a:t>
            </a:r>
            <a:r>
              <a:rPr lang="en-US" altLang="zh-CN" dirty="0" smtClean="0">
                <a:solidFill>
                  <a:srgbClr val="EB641B"/>
                </a:solidFill>
              </a:rPr>
              <a:t> </a:t>
            </a:r>
            <a:r>
              <a:rPr lang="en-US" altLang="zh-CN" dirty="0" smtClean="0"/>
              <a:t>(</a:t>
            </a:r>
            <a:r>
              <a:rPr lang="en-US" altLang="zh-CN" dirty="0"/>
              <a:t>Dynamic Convolution: Attention over Convolution Kernels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55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SENet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68" y="2234045"/>
            <a:ext cx="11554374" cy="249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04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Self-Calibrated Convolution 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7" y="2066064"/>
            <a:ext cx="11730038" cy="299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62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SKNet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08" y="2351314"/>
            <a:ext cx="11399330" cy="291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41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Convolution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060" y="1394238"/>
            <a:ext cx="8173131" cy="490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09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报告内容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zh-CN" dirty="0"/>
              <a:t>老师提供的原始版本</a:t>
            </a:r>
            <a:r>
              <a:rPr lang="zh-CN" altLang="en-US" dirty="0"/>
              <a:t>卷积</a:t>
            </a:r>
            <a:r>
              <a:rPr lang="zh-CN" altLang="zh-CN" dirty="0"/>
              <a:t>网络结构（可用</a:t>
            </a:r>
            <a:r>
              <a:rPr lang="en-US" altLang="zh-CN" dirty="0"/>
              <a:t>print(net)</a:t>
            </a:r>
            <a:r>
              <a:rPr lang="zh-CN" altLang="zh-CN" dirty="0"/>
              <a:t>打印，复制文字或截图皆可）、在</a:t>
            </a:r>
            <a:r>
              <a:rPr lang="en-US" altLang="zh-CN" dirty="0" err="1"/>
              <a:t>Cifar</a:t>
            </a:r>
            <a:r>
              <a:rPr lang="en-US" altLang="zh-CN" dirty="0"/>
              <a:t> 10</a:t>
            </a:r>
            <a:r>
              <a:rPr lang="zh-CN" altLang="zh-CN" dirty="0"/>
              <a:t>验证集上的训练</a:t>
            </a:r>
            <a:r>
              <a:rPr lang="en-US" altLang="zh-CN" dirty="0"/>
              <a:t>loss</a:t>
            </a:r>
            <a:r>
              <a:rPr lang="zh-CN" altLang="zh-CN" dirty="0"/>
              <a:t>曲线以及准确度曲线图</a:t>
            </a:r>
          </a:p>
          <a:p>
            <a:pPr lvl="0"/>
            <a:r>
              <a:rPr lang="zh-CN" altLang="zh-CN" dirty="0"/>
              <a:t>个人</a:t>
            </a:r>
            <a:r>
              <a:rPr lang="zh-CN" altLang="en-US" dirty="0"/>
              <a:t>实现的微型</a:t>
            </a:r>
            <a:r>
              <a:rPr lang="en-US" altLang="zh-CN" dirty="0" err="1"/>
              <a:t>ResNet</a:t>
            </a:r>
            <a:r>
              <a:rPr lang="zh-CN" altLang="zh-CN" dirty="0"/>
              <a:t>网络结构、在</a:t>
            </a:r>
            <a:r>
              <a:rPr lang="en-US" altLang="zh-CN" dirty="0" err="1"/>
              <a:t>Cifar</a:t>
            </a:r>
            <a:r>
              <a:rPr lang="en-US" altLang="zh-CN" dirty="0"/>
              <a:t> 10</a:t>
            </a:r>
            <a:r>
              <a:rPr lang="zh-CN" altLang="zh-CN" dirty="0"/>
              <a:t>验证集上的训练</a:t>
            </a:r>
            <a:r>
              <a:rPr lang="en-US" altLang="zh-CN" dirty="0"/>
              <a:t>loss</a:t>
            </a:r>
            <a:r>
              <a:rPr lang="zh-CN" altLang="zh-CN" dirty="0"/>
              <a:t>曲线以及准确度曲线图</a:t>
            </a:r>
          </a:p>
          <a:p>
            <a:r>
              <a:rPr lang="zh-CN" altLang="zh-CN" dirty="0"/>
              <a:t>个人</a:t>
            </a:r>
            <a:r>
              <a:rPr lang="zh-CN" altLang="en-US" dirty="0"/>
              <a:t>实现的微型</a:t>
            </a:r>
            <a:r>
              <a:rPr lang="en-US" altLang="zh-CN" dirty="0" err="1"/>
              <a:t>DenseNet</a:t>
            </a:r>
            <a:r>
              <a:rPr lang="zh-CN" altLang="zh-CN" dirty="0"/>
              <a:t>网络结构、在</a:t>
            </a:r>
            <a:r>
              <a:rPr lang="en-US" altLang="zh-CN" dirty="0" err="1"/>
              <a:t>Cifar</a:t>
            </a:r>
            <a:r>
              <a:rPr lang="en-US" altLang="zh-CN" dirty="0"/>
              <a:t> 10</a:t>
            </a:r>
            <a:r>
              <a:rPr lang="zh-CN" altLang="zh-CN" dirty="0"/>
              <a:t>验证集上的训练</a:t>
            </a:r>
            <a:r>
              <a:rPr lang="en-US" altLang="zh-CN" dirty="0"/>
              <a:t>loss</a:t>
            </a:r>
            <a:r>
              <a:rPr lang="zh-CN" altLang="zh-CN" dirty="0"/>
              <a:t>曲线以及准确度</a:t>
            </a:r>
            <a:r>
              <a:rPr lang="zh-CN" altLang="zh-CN" dirty="0" smtClean="0"/>
              <a:t>曲线图</a:t>
            </a:r>
            <a:endParaRPr lang="en-US" altLang="zh-CN" dirty="0" smtClean="0"/>
          </a:p>
          <a:p>
            <a:r>
              <a:rPr lang="zh-CN" altLang="zh-CN" dirty="0"/>
              <a:t>个人</a:t>
            </a:r>
            <a:r>
              <a:rPr lang="zh-CN" altLang="en-US" dirty="0"/>
              <a:t>实现</a:t>
            </a:r>
            <a:r>
              <a:rPr lang="zh-CN" altLang="en-US" dirty="0" smtClean="0"/>
              <a:t>的带有</a:t>
            </a:r>
            <a:r>
              <a:rPr lang="en-US" altLang="zh-CN" dirty="0" err="1" smtClean="0"/>
              <a:t>Depthwise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conv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MobileNets</a:t>
            </a:r>
            <a:r>
              <a:rPr lang="zh-CN" altLang="zh-CN" dirty="0" smtClean="0"/>
              <a:t>网络结构</a:t>
            </a:r>
            <a:r>
              <a:rPr lang="zh-CN" altLang="zh-CN" dirty="0"/>
              <a:t>、在</a:t>
            </a:r>
            <a:r>
              <a:rPr lang="en-US" altLang="zh-CN" dirty="0" err="1"/>
              <a:t>Cifar</a:t>
            </a:r>
            <a:r>
              <a:rPr lang="en-US" altLang="zh-CN" dirty="0"/>
              <a:t> 10</a:t>
            </a:r>
            <a:r>
              <a:rPr lang="zh-CN" altLang="zh-CN" dirty="0"/>
              <a:t>验证集上的训练</a:t>
            </a:r>
            <a:r>
              <a:rPr lang="en-US" altLang="zh-CN" dirty="0"/>
              <a:t>loss</a:t>
            </a:r>
            <a:r>
              <a:rPr lang="zh-CN" altLang="zh-CN" dirty="0"/>
              <a:t>曲线以及准确度</a:t>
            </a:r>
            <a:r>
              <a:rPr lang="zh-CN" altLang="zh-CN" dirty="0" smtClean="0"/>
              <a:t>曲线图</a:t>
            </a:r>
            <a:endParaRPr lang="zh-CN" altLang="zh-CN" dirty="0"/>
          </a:p>
          <a:p>
            <a:pPr lvl="0"/>
            <a:endParaRPr lang="zh-CN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2880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作业提交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zh-CN" dirty="0" smtClean="0"/>
              <a:t>报告</a:t>
            </a:r>
            <a:r>
              <a:rPr lang="zh-CN" altLang="zh-CN" dirty="0"/>
              <a:t>和代码（可将</a:t>
            </a:r>
            <a:r>
              <a:rPr lang="en-US" altLang="zh-CN" dirty="0" err="1"/>
              <a:t>jupyter</a:t>
            </a:r>
            <a:r>
              <a:rPr lang="en-US" altLang="zh-CN" dirty="0"/>
              <a:t> notebook</a:t>
            </a:r>
            <a:r>
              <a:rPr lang="zh-CN" altLang="zh-CN" dirty="0"/>
              <a:t>里代码复制到一个</a:t>
            </a:r>
            <a:r>
              <a:rPr lang="en-US" altLang="zh-CN" dirty="0"/>
              <a:t>xxx.py</a:t>
            </a:r>
            <a:r>
              <a:rPr lang="zh-CN" altLang="zh-CN" dirty="0"/>
              <a:t>文件中）打包（学号</a:t>
            </a:r>
            <a:r>
              <a:rPr lang="en-US" altLang="zh-CN" dirty="0"/>
              <a:t>+</a:t>
            </a:r>
            <a:r>
              <a:rPr lang="zh-CN" altLang="zh-CN" dirty="0"/>
              <a:t>姓名</a:t>
            </a:r>
            <a:r>
              <a:rPr lang="en-US" altLang="zh-CN" dirty="0"/>
              <a:t>.zip</a:t>
            </a:r>
            <a:r>
              <a:rPr lang="zh-CN" altLang="zh-CN" dirty="0"/>
              <a:t>），提交方式另行通知</a:t>
            </a:r>
          </a:p>
          <a:p>
            <a:pPr lvl="0"/>
            <a:r>
              <a:rPr lang="zh-CN" altLang="zh-CN" dirty="0"/>
              <a:t>实验报告内容应</a:t>
            </a:r>
            <a:r>
              <a:rPr lang="zh-CN" altLang="zh-CN" dirty="0" smtClean="0"/>
              <a:t>工整</a:t>
            </a:r>
            <a:r>
              <a:rPr lang="zh-CN" altLang="en-US" dirty="0" smtClean="0"/>
              <a:t>，</a:t>
            </a:r>
            <a:r>
              <a:rPr lang="zh-CN" altLang="en-US" dirty="0" smtClean="0">
                <a:solidFill>
                  <a:schemeClr val="accent2"/>
                </a:solidFill>
              </a:rPr>
              <a:t>报告内容不</a:t>
            </a:r>
            <a:r>
              <a:rPr lang="zh-CN" altLang="en-US" dirty="0" smtClean="0">
                <a:solidFill>
                  <a:schemeClr val="accent2"/>
                </a:solidFill>
              </a:rPr>
              <a:t>超过</a:t>
            </a:r>
            <a:r>
              <a:rPr lang="en-US" altLang="zh-CN" dirty="0" smtClean="0">
                <a:solidFill>
                  <a:schemeClr val="accent2"/>
                </a:solidFill>
              </a:rPr>
              <a:t>8</a:t>
            </a:r>
            <a:r>
              <a:rPr lang="zh-CN" altLang="en-US" dirty="0" smtClean="0">
                <a:solidFill>
                  <a:schemeClr val="accent2"/>
                </a:solidFill>
              </a:rPr>
              <a:t>页</a:t>
            </a:r>
            <a:endParaRPr lang="zh-CN" altLang="zh-CN" dirty="0">
              <a:solidFill>
                <a:schemeClr val="accent2"/>
              </a:solidFill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0452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gICAiSW1nU2V0dGluZ0pzb24iIDogIntcImRwaVwiOlwiNjAwXCIsXCJmb3JtYXRcIjpcIlBOR1wiLFwidHJhbnNwYXJlbnRcIjp0cnVlLFwiYXV0b1wiOmZhbHNlfSIsCiAgICJMYXRleCIgOiAiWEZzZ1RGOXJJRDFjWm5KaFkzc3hmWHN5ZlNoY2JXRjBhR05oYkh0SGZWOXJMVnh0WVhSb1ltWjdXWDBwWGpJdFhHeGhiV0prWVNBb1hHMWhkR2hqWVd4N1IzMWZheTFjZEdsc1pHVjdYRzFoZEdoallXeDdSMzE5S1Y0eUlGeGQiLAogICAiTGF0ZXhJbWdCYXNlNjQiIDogImlWQk9SdzBLR2dvQUFBQU5TVWhFVWdBQUJHVUFBQUNvQkFNQUFBQzcvVTRVQUFBQU1GQk1WRVgvLy84QUFBQUFBQUFBQUFBQUFBQUFBQUFBQUFBQUFBQUFBQUFBQUFBQUFBQUFBQUFBQUFBQUFBQUFBQUFBQUFBdjNhQjdBQUFBRDNSU1RsTUF6ZS9kdXpKMmlabXJWQkJFWmlMRFdYNWhBQUFBQ1hCSVdYTUFBQTdFQUFBT3hBR1ZLdzRiQUFBYnNrbEVRVlI0QWUxZGU0d2t4MW52dTMzZXp1N3MyZzRra1FOelhpQjJnbURPdmhnVTRtVFdnWDhnU0hNNEVuK1FQMmF4aEF4Q2FKYUFzSWtJY3dsR09QekJYQUpDdGlNeEl4NFNEeW03ZmlBclNHWkdRaUNDakdleEVsNVJOSnV6eE5QUjN1NmVpYytPWGZ5cXU2djZxK3AzVDgzMjlsNlhkRGYxK09wNzFWZjFmVlhWM1d0WnVhUUh2ajhYc2lYUjRtcGdtYjFlWE9aTHp2UFFRS1ZiMmt3ZWVpOHd6Y3FEckxTWkFvOWZEcXgvbzhsS204bEI3NFVsK2FlUE5tQXhwYzBVZGdCellMd0xlN256NjZYTjVLRDZ3cEw4OU1WM2ZNVTZVOXBNWVFjd0w4Wk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yTVNSdTdoVnZmMzNkNCt0SkpZODNscDdTWkV6WXd5M1hHanZxY3FTVjI2WVR4NXJKVDJzd0pHNWR0L2ttZ2d5RzQ2cDdVRHgwVzJXYisvbFoyOTYrZHNDR2ZsSjBseG02QjBWei9RdlZCdGh1R0xHZkJDMnd6TC9FWnllN2NDZE5zSWV1MzRaZVdhclprL3hjbVFONkNGOWRtWG1ZLzhPSXJ2OFRZbTJHcUxXTDlNdHNDMjBzTmJqUmh5MHp1Z2hmV1p1Yll2ZHdvMm94ZEthSnhoUEE4NDh3QWJqVDNoWURrTDNoaGJlYnFkZHNwelRGMkkwUzVSYXl1OWgydWwzLzFFMkhzNXk5NFlXMm10dVlvZFJTK2lJZHB2ZGoxK1F0ZVZKdFpZdll5WTFubkdIdWoyRWFRanZzVElIaFJiV2IyTlZmVlZjWkNOeGpwUnFNWTBDZEE4S0xheklEZDZZNXhqUjBWWTdUTmNIa0NCQytxemJRWTIzUUdvY09FbXpJektDY2N5d2tRSERaVHlBTU9oTDV1RUR4bWJPK0VqN05KOWs2QTRET1I0Y0FmRFUyS093bXU2dmVwdmZjWjIzQnF0aGticW0wbVMwdGh4eVFtaVVUaHlrdndDSjVXR1JQUnBCOXE4WERQWDVsVFRXTkRJUXhiN3pzVldHY3VLVTFHQzkzYy80cGVUb0tIYTNHdXlSajdhbGg3NzlXd2x1T3ZmK2JBM1Z3N3BLdk5EN284dEtmcG04NU4weDZUS1RFZndVTjRlKzZSei94SUhTYkQyUHVlZU95VEFVQ3owMXowQStoRlZsWHJId2h1YjdMRDRBWVR0YzF2bWNBeUVZNThCQTloZVdEYmkvdmY5UUNnMnBzQmxjcy9lMXVkM2ZIN1UzUUhBVVI1VmV0SVdXZ2tWSlJ6bFVCUm1RY08zekVNYVQ4VGVGSDRkNSs2aHgyKzgyZEMra3hlcmFrNGllQTF0djVkZDk5eXl5MFg3MWxuUVVNNU9WTU9oc0doVFFhVWJybTRIa0RvbkgzSHFsS3IvclJyWTRlYmFrUDIwbmo5SW1maGZ2eTc3WjY2WjZhclR2MUZVYmNrTmtvcXFYbkczbEpyMHBhK0RwRzJnanYxdnVtdi80K2FxNEozKzl0TTFQaFVuRUJ3M0xwNUtjL2pxbzdmanA2dlNkYU0zUXlPSlVxZUlUWWo2OTI2VGlESnM0eGRubkNvbnNPRGNZRnIyQUxiMEZGWC9rbXlOWjBMOVFBVkp4RDhvYy9jNy9EMXRpZCthM29Mb0s0TVgzblpmNDhENVhxcDcrdVJyV0xzb1VRdXdtWm14Q21lUW1kc0lKenB5TU1lQmJVMThwMFdWZ0FxMHpTZXZReFNjVExCWjhIWGplTVBHUlNOUGUzejVRdmc2dUJISDNNdCtySUNuYjN3MHZyNnVoT0tzOFAxZGU4WUJndUlrdzdmNnlDdnNvQnRISzZiSnQ4TmcxU0FFN0lxeEZPNjhuWEEwdHNlZjdSbWN4WitTSkZaRzRFcVRpWTRMbXY5eTJKbVJySjFyQjFvL1pZYjdNWVhlRjMxeTF4bGExcnpKRVdjdGdTZy9LdVA0OUhORnoydjBRN3cxR2RNbk00Z0ptSUI3Si94eWZnM2pEMjV4eUh0UHhpc0t5Z0FSY3FxRUJVbkVwenJzSitTbm1Id0ZWOW8yV015NnRzR2Y1Y05FblJqT1AyQ2VsODFpTE1Cb1dxWEdkZ05WeURPcmwrY3NYNHBjWTdKMEIvUGVrY2NodnB4SmFzSlVYRWl3UWZnS0JtVnFVRU5kS040bVR3UXR4aXM1T3pNZElBUWFVL0ZVRk1mYzFqeE82ZDVkbWpDaGZlQ2xzMktiaFRWQmdsN3V6VDJVdG5PWEFwVGNTTEJNWS9OTDN6cFJPbHA4UjhtVmw5aTRMUE04eG15T25zbTBEbkJaYXdwS0JzK3BZeFp5RW1mMGkrMk1BcDZjT3VjdmduWVppVHF4UkM5RVlzM0hVQzRpcE1JRGlNT0NzclNzVEFSOUp3K3ljWTAxbHcyelovcm5GU2g5L1dGWjV1WXJTM2RpcUVETEFUQnVsL0VJYUsyMHE0d2V2MEdNOXVhU01QK3p1RXFUaUo0ZzVsdzAzNnVrdGZNYXJNSVRtRFA2NDN3M3ZBazYyRGxRbEljVFkzc3ZHM2FNK3k4eHdQUGpRMk5HK1R4eDlkTmJTbHQwMWxqZFF5dnRKWVZvZUlFZ3ZPWTdKcXFuZU11NlpOc3JNUVNtSmU3WmpuQy9vZW5Dd1FyQm5LREZKR2QxMWFERlZNeml5OXpleW90UzE5cFYxU0xydXNHclhWUFg0eFFjUUxCZWJpd2xwNm95UjVOZGNxREkyb2tiVU0rd2VNWTV5dzhVZWZVOG8xalJUdS9HeC90ZVJnbXlqWDhubVpXbVNXV3RhMFlDV0t0allrbytqcEhxVGlCNEh4YnN1VkRlcHdWRlcydGJwRk5rMlZoSFp6d2pzY3ZTeHN5STEzeVdocktJTm4xUFNXZ21XY2ZzV3YvZGMvcmxERUg2dWUxcmdObDBjT3lRelpObGpYd0diVFdQWFV4VXNYeGd2TmR4REExVVpNZDVwVVpqeE5SOXIwRVBZNGMrNlJvSk90elRuN1haT0V3bnk2L2JmY0NxckUzTVFjSXQvVnpuclk2Ylo5bWh6dUVUSS91b1VoOTVteTBpdU1GaHhIbmZEd3pveTRrdU12WUpkcllWaTJLdEdUUHVzN3BOWW1ocFE2U1hiOUsyWm9YZzJwQVY3QllqN0xEUWtPTmNKcktxZ2RIc2lVNU5aS0pWbkc4NE5qSCtVNGlqRENXR0VsTG1kRFluOUJ0QlliWHNNSTRYMk5NRktTaDRMRVJNSk5ucWJHMjMzUkE1d3pvQ2dHdVpubHo2aEFBNElMZ0RMLzdsQkZTbnowYnJlSjR3VHRxTUppZGtjdzl1NHBWSUg1eHg4ZEdlRVlwWmFhaGRlVDNza2pDQnlLbXU2SkJXTllLc2QxNVlWNExyb3Z5UWFlbzREdlZ2Z0svcUZyRlFGMXBhOHE2cTNUTVZvaFJjYnpnTmI5M3pjWko1bDVrdmdNSDRwZnpCTlhvUFR1a1pDckxodzFKR01Bb3dEVlpXT0V1Q1hwdDl6NjdNdklmeHdtWTVMOU4zVVJYMVFDbnAyelpsZzgvbnh4MUlzZ1lGY2NLenJWM0xSR2xhUUhobkplaWJxbk9xRUxiek9YSEVCdXA3MkNzQjdnbXkycklaMmh3QW9hSEtOYlgwVU9QWHJPd3RLMmZVbzZVSWNDdWlSNERXTVluVFN0R3hYR0NZOFRVY0NLTEVpYnFzNkE2YzB4QzQwcnk4NmM0cDBEWFpGazllU3JTZ1pMY1pHTGZ2NnE2WDh2cUtFTUEzZ3dmZkd2eXg2azRUbkRzTXBWd1FrTi9ETVV6eXF6Q0pCTWVZNXEwc2R2a3lYbWlOTkExOFVEWlhZQzVqa1F5c1NiRE42aVBzdGFVSVdqcHJzdXdJbUpWSENjNE5uNGl2alBNV2xKMHE0cGpnRDVmVDlwekVyaHR4d2gyZ1FQMkUraHhXdUp3Rm9NbzA0VkppTHA5K2RxK1EvRklKMmxYOXRRaUJUU1NqMVZ4bk9CWUo1Vnd3Z2hYcVpDTXhORFl2Y0RQZEJkbWx6Y29qaWRPQzluTGJxM3lzeXEyYks1OTJSMnVLQ0FaQzNVbVF5V09BVFowaVdBQ0hjV2lTSk9SYkt5SzR3UWY1WDQ4MHhFdXdGYklXRDJiTUtLa0lDVEVPVzJUVFRVRm5abWFsK3lxUXNMM0VibzRuYUVIVktURlVEWld4WEdDZDdRZzNSQmZLZEEwbFFPc1dzaWtUNEV3R1NnbUMwKzdvYTRKNjgrMFhwcHNxWGRvczRxUklGclFqNG1UU1pRVXFoYW40ampCZ1NEUW1TZGxZSEs0dXR5ZWNGd1l4djdrT0JOZzRIZXpTRytGdWlZTEVBbndaQUhCNHgxME4zMVdDWW5oT3FZYjBVSHFmaVRYY1lJRHdiVklCRUdOZi9sQ1dIb3hDRHk2VHJGNkhoN3U2ZkQvcTFjWUtkZEJpanZtTU5lRUoyajhyQmloYk1FWjBTVnNWVmxZc0FENk52UlZnd0ZPdklwakJPY0kxdElxd28wRmJKM3IvMjJtUllaVFI5S0hiMnQxREE4YXVPUFJjYUxzT3FlZnJ5c3hPQUhFM2VDUUZBMW1JVE9OZXZlVng3czYvbGs4WDA4OVJ1SGN4cXM0Um5DT1lDc2NmM0FMTjdTd3RCSGNKYndXeUhhOVZweG4wUm5JRy81UW1ZVWU2S1E1MXprZGhDb0E1eGlFczBuSktmMGJ5dUk2RWhzMEc2YXBYcDZnYnFrZXZMRlRVQ1l1eEtzNFJ2Q3c0NW5xUHo5eS84VkxZWHg4THN4aTJORXdyRTlZUGJZSnBBODh2YlpwUUxzVGNFV3pGSVkrb2g0RFp5ZU5vT3lCMVNEMWRKS2Rvek50eFM3R1NraFpWemRWUURRV0t2ckdRNC9lZG04MDV2aldDQlc3bldNRVg0WFdkZ0xvN0hOdGh0cE1RSWZNVlZqcENKMkJma1JxZ2NOck5uTGpMTFc0akVpdmh2RSt2ZlBZcnBnSU51a09aWUZmQUc2b0hLSEdydUF1allLcVVFbExnM0FWQ3hUUmdvOUNqbWVldlVjd0t2Qk02eGN1WXMvRDNmSUp0QzBDTHVNc2NiL00wNlpIWHMwSnltcXRnUkozaStTR3BFdURYamdHeldZUVhqZ1JYZVdINjJJQ1RjQkVLMXpGQW11MDRCMTExeWM2NFhlZ1hoMlNGck5abk1LU2hRNENhUkZ2MHh0VTB5dzFHRThhUFNKZHRPb0lZTnBzOXhCMHZVNDlSbzYrdWMyc2VXM0lJUUFSVDJCZ0VWTGJGTUJraFpaUFpLSmlCMFUwbFpxeVNGS2lBK1VJZ2JhWXphczJNOUxqR2JyRk1NMFN0SWZrMjloSytYeUJoV3laTExQSWJnZmR2a1NpMkF6ZllGeVFUVHl6N3prazJNeVcwcGFoRUtsaUI1L09nVW9GREJJYnAyMGpKVENqTFduenF5RGlTOWNFRnN5aUhaSG5MMmxvK3lhNk00eGk2WlhnRTZPL0piZzlLbTdPdVhPNjRxc1hGWFhsNlM5UnEvOVdneW0vOERFZFVKYTdSenRONm9DYWRBemdpVFN5SGM4aHdhQ0dFbzJlU2FpQ1NCVTdPQ01GNTBhOXB0QitYcFE2R2M3NlJGLzFOOXBtc0hNajRCQ0ltcEJsSWNxWG5qK0NKZmNkYlBUV1V0UWh0Mk16bHdsNU5SdXBPZ25hMENqSzRsQ0NxSmxGTEcyUTA1dXJOYXBxYmpOZUUrOVo5MEpTekNBVkZ5a2xWVUdraWgxOGtZTHpXYnhGNkZwVzg1SmJyR25HcEVDbEtxeEtMWkxNTllGQ3Raa1JRUHFpaWYrMnlmTkpFU3dGMHVEa1JDUkFjWXA4bk0wMDZGaUtUcjVmSXBTYTNmU0JPaFZkckJYZzErTk1zUmsralpXN0E1ekt5bk9pTXhIUlYxSVZqSUN2VDFsckV4VTc5WkdDKzQ1bjVxUWQ2OFpFcWFUTEJ3b1RZak10Q0tRWWNaMEVIRm9UNVdLaGdZNEI2ZkE3S1pTV2o3T1p5T2ttY2VGUERnYW1PL1lraUpKWjVDZDRJTzNGM29yTjhCaVlYa2J4bFZidUxGZlZKZ1Z2VWhXMGdDOVV4UTdHU01INWNPNVF5b3ZDRVVSNlR0cGowcndhend6QTBIbUNrdTlLUmRrNFMvRTJjNEd3WWlyYlpaZnRSMmFrSVZoS1BNUFBaNVNqOEM0cFIwVjBTZm1MVXJHTG82NUY0UXJxa2I1TldSWCtIMTVMTVNhbG04a0NCbzRRNGs1WnNNQ3BnRUd1WWpzWlp5a1htMWwwTHJIclpMSXIreVk4dXE0RXV0eFh2ZVpxd09wb29ZNm9UL01icFdJWFQ2VE5kQWcvTnZ6NHZOdE5mYWJEclp6R2oyb3pmQmpKczdMMmJXaC9XaXpGMll5K1B6QWlmdGVadzlDOFhNUlVtK2xCQlJzZXFhZFJsUEdOK3F5UkI1UW1GNlZpRjArazREWENqdzNmMkhLN3FmZnphWGhLQ2F1ZUErTjJpVVpvUE42U0VaWnhsdUp0WmlPbE1QSGdpOHo1dGs3TE8zU3hsSE5nYXd5UnBaRllWZzNGYXdLdnQraUttdlMvVVNwMnNTbEdxMU1BUDhxK2JrN2UvYlFvMzNxM3VaQWppUmRlU1AvOEREek8wTVBQdmJsOHZSRzdPSlRrc2hQSmtvY2llUzdHWnNETGxlVElFa0oyM1FzamVBamljYWc3SGtCbTd4Vi9oSHZlQ0NJKzdpZWtFdzRXcFdLblY2VGdQRWFYS3lTSG41VjN2RzNWbUJRV2pENC9nL09JUHNIZUEwdnlqdzA4aXdMZlpUZ3BpaVVCaytvM3htWmlybmRUa1JMQVdGWDdkaDQ3YUJucEt0L080MXNxSnIvY1YrR3pSbTYxMFdsSFlNcisyd1BHRUJVN1NDTUY1MXYveTVTNDkycXA2em1YZi9kZ2l3TFllUjZXaGFVTkgzUk1CZXgybDREc2M4UWZjaXJtNnF4REZ1WW9sZ2lHNU5rWW00R1lsTFBrZUNNZ3UyS3p6R2Y3MEFWc2VmTUNOZmJ0OWRHZTAvWUEreVlBWFRqY1BEbHora3VOdDR1cURMOFJLbmF3UlFyT0Y3NCtwZHFRbnNveHBybmEwWWU5Y3dRSmFmTDVHU2lQV2lYZlhMczExUjY3ZDVzWWRTUkxrcmNVbVJpYndRbzRUSUV0Q1Npa3UrTEMxYnlzZG8vVzVScHdqbWorbXgzOUZIRmlia1QzRSt4OWt6eTRGNkZpaDdkSXdWZkIzQTZSZFY0RzdLN25iTDhiWnI5SklLYVFKVllCN0pVRzF4aDc4bU1WZkg3N2h0WHpucTR4ejFLTXpXQVYzak1zYjljN3lSdDdLNmdXM0QvREZjQnUvTW5PWCtNYjdGZkFwSHpBeDRubzVnODNyWDN2RkRrMWkrRXFkbEZGQ3Q3U2ptZEdjdFZ4UE9mc2pSMGNDYXlsNWlwVmg0Wks0S3F0TWZ1L2d5RmVRNURMbkhtV1ltd0c4ekdWSVBIQXdDZytYNEpuVGRqcmJvOFpUMGhlVTYxN0tuZ1h2MldRQStCRWRNM1A0eUYwcVpaNHFqNklVQlc3a0pHQ3Q4bTZCM2pFdGdLLy9ZcExwYlpwWVoyNklDcW44OXVVQjcwMi9tcERhT3lvejZuTEVOZzhTekUySTZJSGMySjN2VldUaDdwaVJ6anJoY00yclplRkJ0Z1AyVGY5dTRLREhsZlZVMWhpUXQrVkVKQ1J2NkVxZG50RkN0NzBiSjJEWDRVemNOTlpubjBaVzBDSXRpRXFwL09yYjRkZzVYYTYzcmNmTjdvbXFKcG5LY1ptem5xN1ljSERaTCtRVEN3dGVEQWNRdTQ0K0p3VmxPQ0diZG5weDFDSE1aSXRkVVJEMWNhUWY3SkMySnRzUzVNSlU3R0xJMUp3TUNhRFhzdkNOa1dlRSt4amZzL1Z3UjNRWDByRFRucllsdWV2bmM3LzJlQUsrdzZ1MEFFSmRzeXpGR016QXpMQzZjVUs2QUZUMlBTcTYzSmJoa2hOMVhIVnZ2YzgrQ3FBc1VXUTV6allVZTFhRC9BeEVxYzhIclowdVJBVnUwaWlCT2Q3NWd1U1dLWGpYUWZpTVBJdGEvUTlhS3MwNzVNUTA4bklOOG9sK3VvL1B2d0xqaExCRWpjZE81bG5LY1ptV3RDQnlZVHBKNGNmZUdGQmF5NTZhVDJTM0N2LzhpdGZzUXM0OHBUVEdpZTRlOHYyMytsNDltZ29RVE5sZ2xYc29vb1NuT3Zzc2lUNUlFcGJvZ1RQdVNMT0NFVGRsSDVuUFkvb28xQW5UNW1ZWnluR1pzWnFvT1ZqTG0wRk1STGV0Y1drVFRibER0eUg4eXhabTNoRU4vNlFEMlN5Q3FwaUYxT0U0SlUyckdUVGhiUC9zSlMzUk5iWjUzc2ZtWXlacEwwWHRBaVE5TVBFT2krTFpsbjZ1UHlMY2Z5elozZEpLaVRUQ3g5SkFwVTRpeFZEbnI3eVRtZkVJUXovenRYNU1EUmpvaDFFZEYrOEx0ZmRzQjdwNmhVVnUxM0RCSC8ra1NkcU1CbjJuc2NlZnZqaFJ6N2I0SG52ZFRSNHpvYnk0RTg2UmxKQncwUHVoWFRBSk5zVlRZWlp3cVFuU2NiK2doci9yWHZFYVhYVy9NaGJWMndVQ0lMRjdjRklyamcrNUhWdjQ0aUh5WTg4VCtDRHpGWkJWU3d3aEFuZUl4cVRXWGxRQk90alArZzRWSUZvZXIvYVdUUWgxQ2JIRUlaWmlyY1pSS1pHNTNTSHNTR1J6WDdPMTQwRjFFOTlVU0JzcWRaa2VZeFovY2xMc21na1ExWHNJZ3dWL05QU1VFam1kc0dHc3htN3l6Qi9BcnYyRzdZVXFsK3hOOHhTMS91RDMvaEwyMEhyekR3eFdJM2pUTVV4V1RGc0JON0NjeTQwcEZPK1ltL2IrZUZ2WnFJZTBnbEhjdktVVVlCa0ZIeUdYYS8rc1JybUM0em1mMGRoM2h3eDZsQ1NPMWFXT05WWmZZd2xLOWt5Qyt1N2FzZTUzN3Y0YlU3TnN2UlNLZ1EvaU9GYmF6YzEyTWIvTk9tMlJUUmsvMVZVN0tMSktQaUE3MWUreUtaOW5PY3dlWmJxaFlvL0VwZkF2UEpZV1hJSXlrMHVaV29xK1RxWkhKUUFZcjB0V2NaUnphWlZtZkE0VDJKek1vcUszYmFCdDd2WG9DT0wyL1k1Vzlmb29WYmwzMjQ5dlB2SkhUL2RCV1ZsZnE3MkxoY0U2K1psRDNvYUxIbllBM0p0U2oyZzNXUlZoMjdSS3IrSWl6WW5QVTFQZEJBMEkxaUFqKzY3clZsL3dsVHM0c3NvZU5kK25IQlZHY3lzSExyOWxyR3FJaDFwQ3pSYU1YODgzTmlSTXRkb25xSUt3eEhZTlVBWlpjbWpHcFJyZUNjUFFjMUc2d2JlNDV0ODU4MWNvNm5VcU4zQ1dqaFJSdTByQ3hlaEtuYVJaUlFjbmhNSW5EZXdQanAwY1UzMFUrMnhnOGZ2aDBIZ0lsOVBQVEp6Yk11NjZ5OEFNdGNnNnpML2t2d0dLazJ5cExPaGxxdUdRMkFWdTFZNlIxYjBXU2lKSGY0Mlg1QS9TcDJ6aFlpT2Q2dnhuZFRjZlJxR0ZNVlFGVHM0TWdwdWUwNCtRSnpKM2pBRlA2R2dEN0FQb20ybGh0dGNyZzBsN1h2N1NUNEhlTHJqOGNjYTdMMEVhZ29zRWV3QjJjV3dLQ3NBZHVJcU9rNGRXd0hzOEoyUC9RWTc3QlBVZGtUSGJXWURWOGZmSWczcHNxRXFkdEZrRk56eG5IaURqOStQMU5PeEZBeTl4TjYwRzNEZXdQZzFscElXdlZ0Syt1eklBVFV1OHl3cExQZ0xBM3RkODlkUHA2YnJPY0tyanMzWS85OU9xVGtSSFk0YUwrTTE5bXUwSlZVK1ZNVXVsb3lDd3hRNWdsVytlMW9PT3J0SXhTUUhidGxYYThpTXNPN3U4UnFTS3VSbWY2VXVWSFkwSkNCNHlzZzBTeFI3UUw3ampXSkFxK2txT2xBdkNRMHcxUUYxbktDSDc1NnMwWlhzSElTcDJNV1lVWERIS2NGbThMakg3S3ZadVpNOUszWDNEeURaajQzNFRwRW9tMHZ1dzhZMytySTN6eGhuU2NIdUwxUk14djkrOUhyTmdyZlVXdGFmdWZQbVNSV3E1cXg4OXI1SmZvcEJCVWxXQ2xHeDB6bXI0UFlDWXlIb2dyMjBMaVJqSkJMcW5IZiswQ01mQnhGOVpwU3R3RTkrdHM3dStJUm9jMytOczZUaDE0c0wyUTRwZERTSnl3MjZuTS85M0szczhPMTlyYk85d1BETndDVnJUcjVUcE1Fa0xBYXEyT21iVlhEM1ZmSUZ2czQwaGduNWlBSnJlUStPRExEeTZpaVg0K05ONHl4RnNZdTJmYk1YbERIVXVNL1dsYUozd2ZtZURkSmhmV3NtZXdpc285WExXUVYzUFdlbGZtRE5Hcm5lYnI0aFdlUDNSbXV5NUdhNjRvWlhiNUJsNHl4SnpNR1oyaVFQYVFlampLeGRETHRBa2IzY2lNNTZHdXByYnNscTA1bXNnb3UvS3ZveWUzLzlzZ21taU8vQnJhbi81bitHbmwwRkVqVE9VaUFWV2JuaXY3cVRiZFBKTkx5bE9KaUErRU9uMWNiUjUrSmdnekVrcWMwcytGTTNYUFJmWHYveEpJVGlZTEJSL25ZSmd3QlBQbk1oS3FzMEJCU1Z5cTlwbGhUay9zSWcxbFg0KzB4V3N4KzNUNnZVM0wzU3lvZS9lemdacllqZXh5OTRDRE9LUDJxU2Q1WWsvTGJ5Q0p1c3ppM1Q5Sm4xdEZsWmt1OW9UNXRTSlA3akZ6eUVIWDRjN3B6cEFhQ0RnZzl1M2gvaitHQ09zV0l4MWxlYVo2Wjl6QkZVb0FSNUNCN0lDQTVYdkJmQThFcEQwQU53SGVFT2d6RWNjMjE3b3RlSHNqRzdRSUsrYkJnTTlNcEQ4R0MydWMzSVdiU053cDRQYmtHNWtQUTFIMi9GVWk3RDF6R3lSWjFJVS9rSUhzZ3lmeWxFcmlQY1ppNzV3ZHJTZWZuYmpydUdIQ2NkSStuNVl6NFNDaEF0SDhFREdIRytVaWxQb2Nhd21SMC8yRktRSWZuQmpxT213bTkwY2tqYkpxNXBKdUU3TDhFRGVlNjY1OTY4c1FPYkNRTDZyNzJnMmp6cUtuK1FCMVY4RU9KMzhxRXJxZVlsdUdTQVp1WisrZGRsRVh2dDJGTmZDVnhtU2cxQUEvWGplcCtoMVBacDBRQy9POERWWjVsS0RTVFdBSCswOEh4aTZCS3cxSUQ5eDNYeTMxT1dBMUVvRGVCNFpzSUhoZ29sYnNtc0FRMDB5SGNvRGFBclVaeCtEZkRQTzJ5ZWZqRkxDUTFxQUg4bVJONGlHRVJib2pyRkd1Z0ZQTmw1aXNVdFJadGNBM2dRK29ROVhUVzVUQ1dHNldvQTMyWC93SFFwbE5oUG13YWFUSG1qOXJTSlY4cGpYZ000Qkw3ZFBOWVM0Mm5Xd0RaNU0vczB5MW5LWmt3RHVKOTAzN2N3aHJKRWRNbzFjRlg1QnM4cEY3WVV6NFFHOElHOFhSTjRTaHczandhZUtSK2N1WGtHMjVDa05mSGhJa1A0U2pTblhnT3pUSHk0Nk5TTFdncG9TQU5kZVd2d0R3SHZxaGdpVXFJNVRScFk4RzROZ3Q1dk9rMmlscklZMHNCWTNocFV5M2RWRE9uMGxLTlo4bTRObHVTNzI2ZGM1bEs4eVRRdzhneGxZWHFmYVpxTXg3TDNpZExBSFBsRTg1bGoveURRaVZKRnlVeENEVndsWDNRWnlQZjlFM1l1d1c1R0RWUWE1SEt5L2NiTnFJSlM1cFFhT0hQNDczOXVwNjk5N2FGUDBUODhreEpQQ1g3emFBQWZneUJwN2VZUnZKUTBxd2FjdjM0dXJZYjRxYXdZeTM2blhRTWRhUzUyWnZPMHkxdktON0VHOEUxcEpRMG54bGdpT08wYTROL3RwR252dEF0Y3lqZXhCbWFvd1NBL01jSVNRUTRhK0gvTW5HdXo4WmlXT2dBQUFBQkpSVTVFcmtKZ2dnPT0iCn0K"/>
    </extobj>
  </extobjs>
</s:customData>
</file>

<file path=customXml/itemProps1.xml><?xml version="1.0" encoding="utf-8"?>
<ds:datastoreItem xmlns:ds="http://schemas.openxmlformats.org/officeDocument/2006/customXml" ds:itemID="{40225495-EC77-418F-882D-8D54027AA670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41266</TotalTime>
  <Words>301</Words>
  <Application>Microsoft Office PowerPoint</Application>
  <PresentationFormat>宽屏</PresentationFormat>
  <Paragraphs>45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黑体</vt:lpstr>
      <vt:lpstr>华文楷体</vt:lpstr>
      <vt:lpstr>华文新魏</vt:lpstr>
      <vt:lpstr>宋体</vt:lpstr>
      <vt:lpstr>微软雅黑</vt:lpstr>
      <vt:lpstr>Arial</vt:lpstr>
      <vt:lpstr>Calibri</vt:lpstr>
      <vt:lpstr>Office Theme</vt:lpstr>
      <vt:lpstr>深度学习及应用</vt:lpstr>
      <vt:lpstr>实验要求</vt:lpstr>
      <vt:lpstr>VGGNet</vt:lpstr>
      <vt:lpstr>VGGNet</vt:lpstr>
      <vt:lpstr>ResNet</vt:lpstr>
      <vt:lpstr>ResNet</vt:lpstr>
      <vt:lpstr>ResNet</vt:lpstr>
      <vt:lpstr>ResNet</vt:lpstr>
      <vt:lpstr>ResNeXt</vt:lpstr>
      <vt:lpstr>DenseNet</vt:lpstr>
      <vt:lpstr>延伸阅读1</vt:lpstr>
      <vt:lpstr>扩展练习</vt:lpstr>
      <vt:lpstr>延伸阅读2</vt:lpstr>
      <vt:lpstr>SENet</vt:lpstr>
      <vt:lpstr>Self-Calibrated Convolution </vt:lpstr>
      <vt:lpstr>SKNet</vt:lpstr>
      <vt:lpstr>Dynamic Convolution </vt:lpstr>
      <vt:lpstr>报告内容</vt:lpstr>
      <vt:lpstr>作业提交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BING: Binarized Normed Gradients for Objectness Estimation at 300fps</dc:title>
  <dc:creator>Hou Qibin</dc:creator>
  <cp:lastModifiedBy>Admin</cp:lastModifiedBy>
  <cp:revision>1248</cp:revision>
  <dcterms:created xsi:type="dcterms:W3CDTF">2019-08-31T02:02:00Z</dcterms:created>
  <dcterms:modified xsi:type="dcterms:W3CDTF">2025-04-01T10:26:51Z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_334E55B0-647D-440b-865C-3EC943EB4CBC">
    <vt:lpwstr>XGRvY3VtZW50Y2xhc3N7YXJ0aWNsZX0KXHVzZXBhY2thZ2VbdXNlbmFtZXNde2NvbG9yfQpcdXNlcGFja2FnZXthbXNtYXRoLGFtc3N5bWJ9Clx1c2VwYWNrYWdlW3V0Zjhde2lucHV0ZW5jfQpccGFnZXN0eWxle2VtcHR5fQpcYmVnaW57ZG9jdW1lbnR9Cg==</vt:lpwstr>
  </property>
  <property fmtid="{D5CDD505-2E9C-101B-9397-08002B2CF9AE}" pid="3" name="FOOTER_334E55B0-647D-440b-865C-3EC943EB4CBC">
    <vt:lpwstr>XGVuZHtkb2N1bWVudH0K</vt:lpwstr>
  </property>
  <property fmtid="{D5CDD505-2E9C-101B-9397-08002B2CF9AE}" pid="4" name="KSOProductBuildVer">
    <vt:lpwstr>2052-11.3.0.9236</vt:lpwstr>
  </property>
</Properties>
</file>